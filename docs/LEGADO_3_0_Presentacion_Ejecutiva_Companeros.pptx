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949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20702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8261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1834353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929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9612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5173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6455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173003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8173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8264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6089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084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666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A96B"/>
          </a:solidFill>
          <a:ln w="12700">
            <a:solidFill>
              <a:srgbClr val="C7A9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13232" y="2600441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8D0"/>
                </a:solidFill>
              </a:rPr>
              <a:t>CENA DE GALA — FORMANDO DIRECTORES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2960043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LEGADO 3.0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13232" y="3815847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A96B"/>
                </a:solidFill>
              </a:rPr>
              <a:t>ORIGEN · EVOLUCIÓN · LEGADO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4322872"/>
            <a:ext cx="438912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13232" y="4754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Presentación ejecutiva para el equipo organizador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54315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8D0"/>
                </a:solidFill>
              </a:rPr>
              <a:t>17 alumnos · 30 invitados autorizados · $10,500 · 2h 30min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5806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</a:rPr>
              <a:t>“Administrar es hacer extraordinario lo limitado.”</a:t>
            </a:r>
            <a:endParaRPr lang="en-US" sz="16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25B698F-7DEC-2FFD-0E77-025188CC3B35}"/>
              </a:ext>
            </a:extLst>
          </p:cNvPr>
          <p:cNvSpPr txBox="1"/>
          <p:nvPr/>
        </p:nvSpPr>
        <p:spPr>
          <a:xfrm>
            <a:off x="708352" y="388020"/>
            <a:ext cx="10884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NO VENIMOS A ORGANIZAR UNA CENA.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6CF5C5A-8B62-ED2C-187F-48357EF42009}"/>
              </a:ext>
            </a:extLst>
          </p:cNvPr>
          <p:cNvSpPr txBox="1"/>
          <p:nvPr/>
        </p:nvSpPr>
        <p:spPr>
          <a:xfrm>
            <a:off x="713232" y="1357519"/>
            <a:ext cx="9839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</a:rPr>
              <a:t>VENIMOS A DEMOSTRAR QUE SABEMOS DIRIGIR.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proyecto no es una cena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Es una simulación empresarial con evaluación real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96B"/>
                </a:solidFill>
              </a:rPr>
              <a:t>La idea central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8006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</a:rPr>
              <a:t>Crear una empresa temporal capaz de diseñar, producir, servir, medir y documentar una experiencia formal.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989320" y="1417320"/>
            <a:ext cx="914400" cy="1005840"/>
          </a:xfrm>
          <a:prstGeom prst="chevron">
            <a:avLst/>
          </a:prstGeom>
          <a:solidFill>
            <a:srgbClr val="C7A96B"/>
          </a:solidFill>
          <a:ln w="12700">
            <a:solidFill>
              <a:srgbClr val="C7A9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132320" y="1234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1717"/>
                </a:solidFill>
              </a:rPr>
              <a:t>“Organizar una cena”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3063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4F"/>
                </a:solidFill>
              </a:rPr>
              <a:t>Después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3364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B4F"/>
                </a:solidFill>
              </a:rPr>
              <a:t>“Dirigir una organización”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132320" y="2304288"/>
            <a:ext cx="338328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132320" y="4160520"/>
            <a:ext cx="39776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71717"/>
                </a:solidFill>
              </a:rPr>
              <a:t>Planeación estratégica</a:t>
            </a:r>
            <a:endParaRPr lang="en-US" sz="1400" dirty="0"/>
          </a:p>
          <a:p>
            <a:r>
              <a:rPr lang="en-US" sz="1400" dirty="0">
                <a:solidFill>
                  <a:srgbClr val="171717"/>
                </a:solidFill>
              </a:rPr>
              <a:t>Ejecución 100% estudiantil</a:t>
            </a:r>
            <a:endParaRPr lang="en-US" sz="1400" dirty="0"/>
          </a:p>
          <a:p>
            <a:r>
              <a:rPr lang="en-US" sz="1400" dirty="0">
                <a:solidFill>
                  <a:srgbClr val="171717"/>
                </a:solidFill>
              </a:rPr>
              <a:t>Finanzas y control</a:t>
            </a:r>
            <a:endParaRPr lang="en-US" sz="1400" dirty="0"/>
          </a:p>
          <a:p>
            <a:r>
              <a:rPr lang="en-US" sz="1400" dirty="0">
                <a:solidFill>
                  <a:srgbClr val="171717"/>
                </a:solidFill>
              </a:rPr>
              <a:t>Servicio al cliente</a:t>
            </a:r>
            <a:endParaRPr lang="en-US" sz="1400" dirty="0"/>
          </a:p>
          <a:p>
            <a:r>
              <a:rPr lang="en-US" sz="1400" dirty="0">
                <a:solidFill>
                  <a:srgbClr val="171717"/>
                </a:solidFill>
              </a:rPr>
              <a:t>Evidencia y medición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reto empresarial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La restricción obliga a pensar como directores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1717"/>
                </a:solidFill>
              </a:rPr>
              <a:t>Cuatro variables definen el proyecto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2816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alumnos organizadores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21945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29000" y="2816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invitados autorizados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63640" y="21945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7A9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$10,500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2816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presupuesto máximo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81160" y="21945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2:30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81160" y="2816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duración máxima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08760" y="3886200"/>
            <a:ext cx="90525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55448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96B"/>
                </a:solidFill>
              </a:rPr>
              <a:t>Pregunta de dirección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4645152"/>
            <a:ext cx="9052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</a:rPr>
              <a:t>¿Cómo convertir recursos limitados en una experiencia de alto valor percibido?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Concepto rector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La cena contará una historia empresarial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920240" cy="192024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21158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1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00"/>
                </a:solidFill>
              </a:rPr>
              <a:t>ENTRADA</a:t>
            </a:r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B4F"/>
                </a:solidFill>
              </a:rPr>
              <a:t>ORIGEN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4553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Fundador · valores · identidad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2359152"/>
            <a:ext cx="868680" cy="960120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1920240" cy="1920240"/>
          </a:xfrm>
          <a:prstGeom prst="ellipse">
            <a:avLst/>
          </a:prstGeom>
          <a:solidFill>
            <a:srgbClr val="C7A96B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971593" y="2624328"/>
            <a:ext cx="1401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2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00"/>
                </a:solidFill>
              </a:rPr>
              <a:t>PLATO FUERTE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3484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A96B"/>
                </a:solidFill>
              </a:rPr>
              <a:t>EVOLUCIÓN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60520" y="4553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Profesionalización · procesos · innovación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86600" y="2359152"/>
            <a:ext cx="868680" cy="960120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412480" y="1874520"/>
            <a:ext cx="1920240" cy="192024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817708" y="2432304"/>
            <a:ext cx="11097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3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00"/>
                </a:solidFill>
              </a:rPr>
              <a:t>POSTRE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8388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717"/>
                </a:solidFill>
              </a:rPr>
              <a:t>LEGADO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09560" y="4553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Sucesión · continuidad · trascendencia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25880" y="5623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717"/>
                </a:solidFill>
              </a:rPr>
              <a:t>Cada tiempo del menú representa una etapa de la empresa familiar.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oficiales: lo que debemos cumplir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La creatividad no puede romper el marco del proyecto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6B4F"/>
                </a:solidFill>
              </a:rPr>
              <a:t>100%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1717"/>
                </a:solidFill>
              </a:rPr>
              <a:t>actividades ejecutadas por alumnos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715768"/>
            <a:ext cx="2423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57200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7A96B"/>
                </a:solidFill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1717"/>
                </a:solidFill>
              </a:rPr>
              <a:t>niveles jerárquicos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715768"/>
            <a:ext cx="2423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22960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6B4F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1717"/>
                </a:solidFill>
              </a:rPr>
              <a:t>tiempos formales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2715768"/>
            <a:ext cx="2423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7A96B"/>
                </a:solidFill>
              </a:rPr>
              <a:t>$3,500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4400" y="4096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1717"/>
                </a:solidFill>
              </a:rPr>
              <a:t>máx. por cada 10 comensales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773168"/>
            <a:ext cx="2423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57200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6B4F"/>
                </a:solidFill>
              </a:rPr>
              <a:t>2h30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0" y="4096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1717"/>
                </a:solidFill>
              </a:rPr>
              <a:t>duración máxima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4773168"/>
            <a:ext cx="2423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22960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7A96B"/>
                </a:solidFill>
              </a:rPr>
              <a:t>Día +1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29600" y="4096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1717"/>
                </a:solidFill>
              </a:rPr>
              <a:t>entregables completos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4773168"/>
            <a:ext cx="2423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empresa temporal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Cada elemento del evento se traduce a lógica empresarial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96B"/>
                </a:solidFill>
              </a:rPr>
              <a:t>Capital humano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1717"/>
                </a:solidFill>
              </a:rPr>
              <a:t>17 alumnos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Recursos que se dirigen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0" y="1508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96B"/>
                </a:solidFill>
              </a:rPr>
              <a:t>Capital financiero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8928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1717"/>
                </a:solidFill>
              </a:rPr>
              <a:t>$10,500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Presupuesto que se administra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321040" y="1508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96B"/>
                </a:solidFill>
              </a:rPr>
              <a:t>Clientes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18928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1717"/>
                </a:solidFill>
              </a:rPr>
              <a:t>30 invitados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21040" y="2423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Usuarios de la experiencia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96B"/>
                </a:solidFill>
              </a:rPr>
              <a:t>Producto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9044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1717"/>
                </a:solidFill>
              </a:rPr>
              <a:t>Cena 3 tiempos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44348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Oferta que se produce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96B"/>
                </a:solidFill>
              </a:rPr>
              <a:t>Experiencia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9044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1717"/>
                </a:solidFill>
              </a:rPr>
              <a:t>Servicio formal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0" y="44348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Valor que se entrega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A96B"/>
                </a:solidFill>
              </a:rPr>
              <a:t>Control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39044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1717"/>
                </a:solidFill>
              </a:rPr>
              <a:t>KPIs (</a:t>
            </a:r>
            <a:r>
              <a:rPr lang="en-US" sz="2200" b="1" dirty="0" err="1">
                <a:solidFill>
                  <a:srgbClr val="171717"/>
                </a:solidFill>
              </a:rPr>
              <a:t>indicadores</a:t>
            </a:r>
            <a:r>
              <a:rPr lang="en-US" sz="2200" b="1" dirty="0">
                <a:solidFill>
                  <a:srgbClr val="171717"/>
                </a:solidFill>
              </a:rPr>
              <a:t>) + rúbrica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21040" y="44348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Medición del desempeño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5806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B4F"/>
                </a:solidFill>
              </a:rPr>
              <a:t>El objetivo no es “hacer todo”; es lograr que todo suceda con método.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04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3" name="Shape 1"/>
          <p:cNvSpPr/>
          <p:nvPr/>
        </p:nvSpPr>
        <p:spPr>
          <a:xfrm>
            <a:off x="-10515" y="16042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Organigrama propuesto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4 niveles, 17 posiciones funcionales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2606040" cy="566928"/>
          </a:xfrm>
          <a:prstGeom prst="roundRect">
            <a:avLst>
              <a:gd name="adj" fmla="val 6452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846320" y="1545336"/>
            <a:ext cx="2514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PROFESOR TITULAR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Dueño de la empresa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800600" y="2212848"/>
            <a:ext cx="2606040" cy="566928"/>
          </a:xfrm>
          <a:prstGeom prst="roundRect">
            <a:avLst>
              <a:gd name="adj" fmla="val 6452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846320" y="2340864"/>
            <a:ext cx="2514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DIRECTOR GENERAL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1 </a:t>
            </a:r>
            <a:r>
              <a:rPr lang="en-US" sz="1220" b="1" dirty="0" err="1">
                <a:solidFill>
                  <a:srgbClr val="FFFFFF"/>
                </a:solidFill>
              </a:rPr>
              <a:t>alumn</a:t>
            </a:r>
            <a:r>
              <a:rPr lang="en-US" sz="1220" b="1" dirty="0">
                <a:solidFill>
                  <a:srgbClr val="FFFFFF"/>
                </a:solidFill>
              </a:rPr>
              <a:t>@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94360" y="3090672"/>
            <a:ext cx="2423160" cy="713232"/>
          </a:xfrm>
          <a:prstGeom prst="roundRect">
            <a:avLst>
              <a:gd name="adj" fmla="val 5128"/>
            </a:avLst>
          </a:prstGeom>
          <a:solidFill>
            <a:srgbClr val="C7A96B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2" name="Text 10"/>
          <p:cNvSpPr/>
          <p:nvPr/>
        </p:nvSpPr>
        <p:spPr>
          <a:xfrm>
            <a:off x="640080" y="3218688"/>
            <a:ext cx="2331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1717"/>
                </a:solidFill>
              </a:rPr>
              <a:t>Operaciones y Gastronomía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474720" y="3090672"/>
            <a:ext cx="2423160" cy="713232"/>
          </a:xfrm>
          <a:prstGeom prst="roundRect">
            <a:avLst>
              <a:gd name="adj" fmla="val 5128"/>
            </a:avLst>
          </a:prstGeom>
          <a:solidFill>
            <a:srgbClr val="C7A96B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4" name="Text 12"/>
          <p:cNvSpPr/>
          <p:nvPr/>
        </p:nvSpPr>
        <p:spPr>
          <a:xfrm>
            <a:off x="3520440" y="3283628"/>
            <a:ext cx="2331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1717"/>
                </a:solidFill>
              </a:rPr>
              <a:t>Finanzas, Compras y Fundraising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355080" y="3090672"/>
            <a:ext cx="2423160" cy="713232"/>
          </a:xfrm>
          <a:prstGeom prst="roundRect">
            <a:avLst>
              <a:gd name="adj" fmla="val 5128"/>
            </a:avLst>
          </a:prstGeom>
          <a:solidFill>
            <a:srgbClr val="C7A96B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00800" y="3218688"/>
            <a:ext cx="2331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1717"/>
                </a:solidFill>
              </a:rPr>
              <a:t>RP, Experiencia y Protocolo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235440" y="3090672"/>
            <a:ext cx="2423160" cy="713232"/>
          </a:xfrm>
          <a:prstGeom prst="roundRect">
            <a:avLst>
              <a:gd name="adj" fmla="val 5128"/>
            </a:avLst>
          </a:prstGeom>
          <a:solidFill>
            <a:srgbClr val="C7A96B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9326880" y="3300984"/>
            <a:ext cx="2331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1717"/>
                </a:solidFill>
              </a:rPr>
              <a:t>Innovación, Marketing y Producción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18745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1717"/>
                </a:solidFill>
              </a:rPr>
              <a:t>Jefe de Cocina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2880360" y="4187952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2926080" y="4315968"/>
            <a:ext cx="18745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1717"/>
                </a:solidFill>
              </a:rPr>
              <a:t>Jefe de Servicio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212080" y="4187952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257800" y="4315968"/>
            <a:ext cx="18745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1717"/>
                </a:solidFill>
              </a:rPr>
              <a:t>Jefe de Compras y Control Financiero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543800" y="4187952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7589520" y="4315968"/>
            <a:ext cx="18745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1717"/>
                </a:solidFill>
              </a:rPr>
              <a:t>Jefe de RP (Relaciones publicas)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9875520" y="4187952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9921240" y="4315968"/>
            <a:ext cx="18745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1717"/>
                </a:solidFill>
              </a:rPr>
              <a:t>Jefe Tecnología y Producción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2240280" y="5166360"/>
            <a:ext cx="7680960" cy="713232"/>
          </a:xfrm>
          <a:prstGeom prst="roundRect">
            <a:avLst>
              <a:gd name="adj" fmla="val 5128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2286000" y="5294376"/>
            <a:ext cx="75895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F6B4F"/>
                </a:solidFill>
              </a:rPr>
              <a:t>7 OPERARIOS ESPECIALIZADOS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F6B4F"/>
                </a:solidFill>
              </a:rPr>
              <a:t>Cocina · Mise en place · Servicio · Recepción · Logística · Ambientación · Evidencia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108192" y="1984248"/>
            <a:ext cx="0" cy="228600"/>
          </a:xfrm>
          <a:prstGeom prst="line">
            <a:avLst/>
          </a:prstGeom>
          <a:noFill/>
          <a:ln w="12700">
            <a:solidFill>
              <a:srgbClr val="A3A3A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6108192" y="2779776"/>
            <a:ext cx="0" cy="310896"/>
          </a:xfrm>
          <a:prstGeom prst="line">
            <a:avLst/>
          </a:prstGeom>
          <a:noFill/>
          <a:ln w="12700">
            <a:solidFill>
              <a:srgbClr val="A3A3A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07</a:t>
            </a:r>
            <a:endParaRPr lang="en-US" sz="85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4642C1F-B01C-735A-3E82-A5982E63DD42}"/>
              </a:ext>
            </a:extLst>
          </p:cNvPr>
          <p:cNvSpPr txBox="1"/>
          <p:nvPr/>
        </p:nvSpPr>
        <p:spPr>
          <a:xfrm>
            <a:off x="5640355" y="276652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7E9DFF8-33D1-3DB4-A9F3-967C913BBE6F}"/>
              </a:ext>
            </a:extLst>
          </p:cNvPr>
          <p:cNvSpPr txBox="1"/>
          <p:nvPr/>
        </p:nvSpPr>
        <p:spPr>
          <a:xfrm>
            <a:off x="1026807" y="3018080"/>
            <a:ext cx="156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Subdireccion 1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9AC1D56-DA4E-A8FC-0B9F-DF5D25FD19D1}"/>
              </a:ext>
            </a:extLst>
          </p:cNvPr>
          <p:cNvSpPr txBox="1"/>
          <p:nvPr/>
        </p:nvSpPr>
        <p:spPr>
          <a:xfrm>
            <a:off x="3914076" y="3001552"/>
            <a:ext cx="1921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Subdireccion 2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4315BC4-F82F-B0D7-4448-3E459956BFED}"/>
              </a:ext>
            </a:extLst>
          </p:cNvPr>
          <p:cNvSpPr txBox="1"/>
          <p:nvPr/>
        </p:nvSpPr>
        <p:spPr>
          <a:xfrm>
            <a:off x="6765067" y="3008836"/>
            <a:ext cx="163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Subdireccion 3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36C6EF7-3791-CDB8-6204-24398BF8F168}"/>
              </a:ext>
            </a:extLst>
          </p:cNvPr>
          <p:cNvSpPr txBox="1"/>
          <p:nvPr/>
        </p:nvSpPr>
        <p:spPr>
          <a:xfrm>
            <a:off x="9768535" y="3018080"/>
            <a:ext cx="163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Subdireccion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Journey del catedrático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La experiencia inicia antes de la llegada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77240" cy="777240"/>
          </a:xfrm>
          <a:prstGeom prst="ellipse">
            <a:avLst/>
          </a:prstGeom>
          <a:solidFill>
            <a:srgbClr val="F3E8D0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68680" y="22585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717"/>
                </a:solidFill>
              </a:rPr>
              <a:t>Invitación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26464" y="2441448"/>
            <a:ext cx="621792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057400" y="2057400"/>
            <a:ext cx="777240" cy="777240"/>
          </a:xfrm>
          <a:prstGeom prst="ellipse">
            <a:avLst/>
          </a:prstGeom>
          <a:solidFill>
            <a:srgbClr val="F3E8D0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286000" y="22585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717"/>
                </a:solidFill>
              </a:rPr>
              <a:t>Confirmación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43784" y="2441448"/>
            <a:ext cx="621792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474720" y="2057400"/>
            <a:ext cx="777240" cy="777240"/>
          </a:xfrm>
          <a:prstGeom prst="ellipse">
            <a:avLst/>
          </a:prstGeom>
          <a:solidFill>
            <a:srgbClr val="F3E8D0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703320" y="22585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717"/>
                </a:solidFill>
              </a:rPr>
              <a:t>Estacionamiento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61104" y="2441448"/>
            <a:ext cx="621792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892040" y="2057400"/>
            <a:ext cx="777240" cy="777240"/>
          </a:xfrm>
          <a:prstGeom prst="ellipse">
            <a:avLst/>
          </a:prstGeom>
          <a:solidFill>
            <a:srgbClr val="F3E8D0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120640" y="22585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717"/>
                </a:solidFill>
              </a:rPr>
              <a:t>Recepción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78424" y="2441448"/>
            <a:ext cx="621792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309360" y="2057400"/>
            <a:ext cx="777240" cy="777240"/>
          </a:xfrm>
          <a:prstGeom prst="ellipse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537960" y="22585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717"/>
                </a:solidFill>
              </a:rPr>
              <a:t>ORIGEN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95744" y="2441448"/>
            <a:ext cx="621792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726680" y="2057400"/>
            <a:ext cx="777240" cy="777240"/>
          </a:xfrm>
          <a:prstGeom prst="ellipse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7955280" y="22585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717"/>
                </a:solidFill>
              </a:rPr>
              <a:t>EVOLUCIÓN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13064" y="2441448"/>
            <a:ext cx="621792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144000" y="2057400"/>
            <a:ext cx="777240" cy="777240"/>
          </a:xfrm>
          <a:prstGeom prst="ellipse">
            <a:avLst/>
          </a:prstGeom>
          <a:solidFill>
            <a:srgbClr val="E8F1EC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9372600" y="22585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1540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717"/>
                </a:solidFill>
              </a:rPr>
              <a:t>LEGADO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930384" y="2441448"/>
            <a:ext cx="621792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10561320" y="2057400"/>
            <a:ext cx="777240" cy="77724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10789920" y="22585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332720" y="3035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717"/>
                </a:solidFill>
              </a:rPr>
              <a:t>Evaluación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325880" y="4754880"/>
            <a:ext cx="9509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1490472" y="4919472"/>
            <a:ext cx="91805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1717"/>
                </a:solidFill>
              </a:rPr>
              <a:t>Objetivo operativo: que ningún invitado perciba improvisación; cada punto de contacto debe tener dueño, estándar y Plan B.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Menú: sencillo de producir, elegante de presentar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El riesgo principal es operativo, no culinario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B4F"/>
                </a:solidFill>
              </a:rPr>
              <a:t>ORIGEN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80160" y="2084832"/>
            <a:ext cx="1920240" cy="0"/>
          </a:xfrm>
          <a:prstGeom prst="line">
            <a:avLst/>
          </a:prstGeom>
          <a:noFill/>
          <a:ln w="254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2834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</a:rPr>
              <a:t>Crema de elote rostizado y poblano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6968" y="331012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Preparación controlada · alto valor visual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63040" y="4160520"/>
            <a:ext cx="1508760" cy="16459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7A96B"/>
                </a:solidFill>
              </a:rPr>
              <a:t>EVOLUCIÓN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74920" y="2084832"/>
            <a:ext cx="19202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617720" y="2441448"/>
            <a:ext cx="2834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</a:rPr>
              <a:t>Pollo en salsa cremosa de hierbas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81728" y="331012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Porción estándar · cocción controlable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57800" y="4160520"/>
            <a:ext cx="1508760" cy="164592"/>
          </a:xfrm>
          <a:prstGeom prst="rect">
            <a:avLst/>
          </a:prstGeom>
          <a:solidFill>
            <a:srgbClr val="C7A96B"/>
          </a:solidFill>
          <a:ln w="12700">
            <a:solidFill>
              <a:srgbClr val="C7A9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3667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717"/>
                </a:solidFill>
              </a:rPr>
              <a:t>LEGADO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869680" y="2084832"/>
            <a:ext cx="1920240" cy="0"/>
          </a:xfrm>
          <a:prstGeom prst="line">
            <a:avLst/>
          </a:prstGeom>
          <a:noFill/>
          <a:ln w="254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412480" y="2441448"/>
            <a:ext cx="28346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</a:rPr>
              <a:t>Mousse de chocolate o panna cotta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76488" y="331012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Preparación anticipada · bajo estrés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4160520"/>
            <a:ext cx="1508760" cy="16459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143000" y="56692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</a:rPr>
              <a:t>Regla operativa: ficha técnica + gramaje + mise en place + ensayo de emplatado.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Innovación con propósito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Tecnología para crear valor, no para distraer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96B"/>
                </a:solidFill>
              </a:rPr>
              <a:t>Flujo digital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2057400" cy="1051560"/>
          </a:xfrm>
          <a:prstGeom prst="roundRect">
            <a:avLst>
              <a:gd name="adj" fmla="val 4348"/>
            </a:avLst>
          </a:prstGeom>
          <a:solidFill>
            <a:srgbClr val="E8F1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0" y="23042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B4F"/>
                </a:solidFill>
              </a:rPr>
              <a:t>QR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679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717"/>
                </a:solidFill>
              </a:rPr>
              <a:t>Preguntas a invitados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2633472"/>
            <a:ext cx="65836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611880" y="2103120"/>
            <a:ext cx="2057400" cy="1051560"/>
          </a:xfrm>
          <a:prstGeom prst="roundRect">
            <a:avLst>
              <a:gd name="adj" fmla="val 4348"/>
            </a:avLst>
          </a:prstGeom>
          <a:solidFill>
            <a:srgbClr val="F3E8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703320" y="23042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A96B"/>
                </a:solidFill>
              </a:rPr>
              <a:t>VOCES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679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717"/>
                </a:solidFill>
              </a:rPr>
              <a:t>Reflexiones en pantalla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2633472"/>
            <a:ext cx="65836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2057400" cy="1051560"/>
          </a:xfrm>
          <a:prstGeom prst="roundRect">
            <a:avLst>
              <a:gd name="adj" fmla="val 4348"/>
            </a:avLst>
          </a:prstGeom>
          <a:solidFill>
            <a:srgbClr val="E8F1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492240" y="23042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B4F"/>
                </a:solidFill>
              </a:rPr>
              <a:t>IA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2679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717"/>
                </a:solidFill>
              </a:rPr>
              <a:t>Síntesis del aprendizaje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03920" y="2633472"/>
            <a:ext cx="65836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9189720" y="2103120"/>
            <a:ext cx="2057400" cy="1051560"/>
          </a:xfrm>
          <a:prstGeom prst="roundRect">
            <a:avLst>
              <a:gd name="adj" fmla="val 4348"/>
            </a:avLst>
          </a:prstGeom>
          <a:solidFill>
            <a:srgbClr val="F3E8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9281160" y="23042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A96B"/>
                </a:solidFill>
              </a:rPr>
              <a:t>MANIFIESTO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26880" y="2679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717"/>
                </a:solidFill>
              </a:rPr>
              <a:t>Activo intelectual final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417320" y="4617720"/>
            <a:ext cx="9372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581912" y="4782312"/>
            <a:ext cx="9043416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1717"/>
                </a:solidFill>
              </a:rPr>
              <a:t>Plan B obligatorio: si falla internet o IA, el manifiesto se arma con plantilla previa y respuestas impresas.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Presupuesto y fundraising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Control financiero con evidencia, recibos y aprobación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</a:rPr>
              <a:t>Alimentos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1325880"/>
            <a:ext cx="4754880" cy="237744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223760" y="1344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$5,200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</a:rPr>
              <a:t>Contingencia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828800"/>
            <a:ext cx="1828800" cy="237744"/>
          </a:xfrm>
          <a:prstGeom prst="rect">
            <a:avLst/>
          </a:prstGeom>
          <a:solidFill>
            <a:srgbClr val="C7A96B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223760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$2,000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</a:rPr>
              <a:t>Bebidas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31720" y="2331720"/>
            <a:ext cx="731520" cy="23774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223760" y="2350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$800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28803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</a:rPr>
              <a:t>Ambientación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2834640"/>
            <a:ext cx="731520" cy="23774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223760" y="28529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$800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3383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</a:rPr>
              <a:t>Consumibles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31720" y="3337560"/>
            <a:ext cx="502920" cy="23774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223760" y="3355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$550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3886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</a:rPr>
              <a:t>Logística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31720" y="3840480"/>
            <a:ext cx="457200" cy="23774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223760" y="3858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$500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4389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</a:rPr>
              <a:t>Higiene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31720" y="4343400"/>
            <a:ext cx="365760" cy="23774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7223760" y="4361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$400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48920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</a:rPr>
              <a:t>Impresos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331720" y="4846320"/>
            <a:ext cx="228600" cy="237744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22376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$250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410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A96B"/>
                </a:solidFill>
              </a:rPr>
              <a:t>Prioridades de apoyos en especie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68512" y="1783080"/>
            <a:ext cx="2606040" cy="2395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71717"/>
                </a:solidFill>
              </a:rPr>
              <a:t>Lugar</a:t>
            </a:r>
            <a:endParaRPr lang="en-US" sz="1300" dirty="0"/>
          </a:p>
          <a:p>
            <a:r>
              <a:rPr lang="en-US" sz="1300" dirty="0">
                <a:solidFill>
                  <a:srgbClr val="171717"/>
                </a:solidFill>
              </a:rPr>
              <a:t>Mobiliario</a:t>
            </a:r>
            <a:endParaRPr lang="en-US" sz="1300" dirty="0"/>
          </a:p>
          <a:p>
            <a:r>
              <a:rPr lang="en-US" sz="1300" dirty="0">
                <a:solidFill>
                  <a:srgbClr val="171717"/>
                </a:solidFill>
              </a:rPr>
              <a:t>Cristalería</a:t>
            </a:r>
            <a:endParaRPr lang="en-US" sz="1300" dirty="0"/>
          </a:p>
          <a:p>
            <a:r>
              <a:rPr lang="en-US" sz="1300" dirty="0">
                <a:solidFill>
                  <a:srgbClr val="171717"/>
                </a:solidFill>
              </a:rPr>
              <a:t>Mantelería</a:t>
            </a:r>
            <a:endParaRPr lang="en-US" sz="1300" dirty="0"/>
          </a:p>
          <a:p>
            <a:r>
              <a:rPr lang="en-US" sz="1300" dirty="0">
                <a:solidFill>
                  <a:srgbClr val="171717"/>
                </a:solidFill>
              </a:rPr>
              <a:t>Vino</a:t>
            </a:r>
            <a:endParaRPr lang="en-US" sz="1300" dirty="0"/>
          </a:p>
          <a:p>
            <a:r>
              <a:rPr lang="en-US" sz="1300" dirty="0">
                <a:solidFill>
                  <a:srgbClr val="171717"/>
                </a:solidFill>
              </a:rPr>
              <a:t>Impresiones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6B4F"/>
                </a:solidFill>
              </a:rPr>
              <a:t>Regla: no pedir dinero; conseguir activos que reduzcan costo sin violar las reglas.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operativo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Lo importante no es sólo el día de la cena; es la ejecución previa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88720" y="2011680"/>
            <a:ext cx="12801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85800" y="1719072"/>
            <a:ext cx="594360" cy="5943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50392" y="18836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6B4F"/>
                </a:solidFill>
              </a:rPr>
              <a:t>Semana 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2999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717"/>
                </a:solidFill>
              </a:rPr>
              <a:t>Diseño + organigrama + concepto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2011680"/>
            <a:ext cx="12801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926080" y="1719072"/>
            <a:ext cx="594360" cy="5943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090672" y="18836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6B4F"/>
                </a:solidFill>
              </a:rPr>
              <a:t>Semana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06040" y="2999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717"/>
                </a:solidFill>
              </a:rPr>
              <a:t>Cotizaciones + invitaciones + pruebas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2011680"/>
            <a:ext cx="12801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166360" y="1719072"/>
            <a:ext cx="594360" cy="5943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330952" y="18836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6B4F"/>
                </a:solidFill>
              </a:rPr>
              <a:t>Semana 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2999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717"/>
                </a:solidFill>
              </a:rPr>
              <a:t>Producción + fichas + evidencias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09560" y="2011680"/>
            <a:ext cx="1280160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7406640" y="1719072"/>
            <a:ext cx="594360" cy="5943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7571232" y="18836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6B4F"/>
                </a:solidFill>
              </a:rPr>
              <a:t>Semana 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2999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717"/>
                </a:solidFill>
              </a:rPr>
              <a:t>Ensayo + auditoría cero + cierre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149840" y="2011680"/>
            <a:ext cx="128016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9646920" y="1719072"/>
            <a:ext cx="594360" cy="594360"/>
          </a:xfrm>
          <a:prstGeom prst="ellipse">
            <a:avLst/>
          </a:prstGeom>
          <a:solidFill>
            <a:srgbClr val="C7A96B"/>
          </a:solidFill>
          <a:ln w="127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9811512" y="188366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55480" y="2560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A96B"/>
                </a:solidFill>
              </a:rPr>
              <a:t>Día 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26880" y="2999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1717"/>
                </a:solidFill>
              </a:rPr>
              <a:t>Cocina · servicio · video · evaluación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463040" y="4754880"/>
            <a:ext cx="9326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1627632" y="4919472"/>
            <a:ext cx="89976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1717"/>
                </a:solidFill>
              </a:rPr>
              <a:t>Cada semana debe cerrar con evidencia: acuerdos, avances, fotos, recibos, pruebas y riesgos.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KPIs para buscar 100/100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La rúbrica se convierte en tablero de dirección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Presupuesto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6B4F"/>
                </a:solidFill>
              </a:rPr>
              <a:t>≤ autorizado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68680" y="2404872"/>
            <a:ext cx="2057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657600" y="14630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Ocupación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7A96B"/>
                </a:solidFill>
              </a:rPr>
              <a:t>100%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3657600" y="2404872"/>
            <a:ext cx="2057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46520" y="14630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Invitados correctos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1783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</a:rPr>
              <a:t>100%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446520" y="2404872"/>
            <a:ext cx="2057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9235440" y="14630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Comida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35440" y="17830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6B4F"/>
                </a:solidFill>
              </a:rPr>
              <a:t>≥9/10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9235440" y="2404872"/>
            <a:ext cx="2057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68680" y="3429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Servicio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7A96B"/>
                </a:solidFill>
              </a:rPr>
              <a:t>≥9/10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868680" y="4370832"/>
            <a:ext cx="2057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657600" y="3429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Evidencia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749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</a:rPr>
              <a:t>100%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3657600" y="4370832"/>
            <a:ext cx="2057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446520" y="3429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Auditorías críticas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749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6B4F"/>
                </a:solidFill>
              </a:rPr>
              <a:t>0</a:t>
            </a:r>
            <a:endParaRPr lang="en-US" sz="2300" dirty="0"/>
          </a:p>
        </p:txBody>
      </p:sp>
      <p:sp>
        <p:nvSpPr>
          <p:cNvPr id="27" name="Shape 25"/>
          <p:cNvSpPr/>
          <p:nvPr/>
        </p:nvSpPr>
        <p:spPr>
          <a:xfrm>
            <a:off x="6446520" y="4370832"/>
            <a:ext cx="2057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9235440" y="34290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Funciones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3749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7A96B"/>
                </a:solidFill>
              </a:rPr>
              <a:t>17/17</a:t>
            </a:r>
            <a:endParaRPr lang="en-US" sz="2300" dirty="0"/>
          </a:p>
        </p:txBody>
      </p:sp>
      <p:sp>
        <p:nvSpPr>
          <p:cNvPr id="30" name="Shape 28"/>
          <p:cNvSpPr/>
          <p:nvPr/>
        </p:nvSpPr>
        <p:spPr>
          <a:xfrm>
            <a:off x="9235440" y="4370832"/>
            <a:ext cx="2057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1325880" y="57150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B4F"/>
                </a:solidFill>
              </a:rPr>
              <a:t>Lo que no se mide, se improvisa. Lo que se mide, se dirige.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662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necesitamos de cada compañero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148840" cy="0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El proyecto exige disciplina de empresa, no lógica de tarea escolar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1717"/>
                </a:solidFill>
              </a:rPr>
              <a:t>Compromisos mínimos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4937760" cy="2395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71717"/>
                </a:solidFill>
              </a:rPr>
              <a:t>Aceptar una posición funcional clara</a:t>
            </a:r>
            <a:endParaRPr lang="en-US" sz="1500" dirty="0"/>
          </a:p>
          <a:p>
            <a:r>
              <a:rPr lang="en-US" sz="1500" dirty="0">
                <a:solidFill>
                  <a:srgbClr val="171717"/>
                </a:solidFill>
              </a:rPr>
              <a:t>Cumplir entregables semanales</a:t>
            </a:r>
            <a:endParaRPr lang="en-US" sz="1500" dirty="0"/>
          </a:p>
          <a:p>
            <a:r>
              <a:rPr lang="en-US" sz="1500" dirty="0">
                <a:solidFill>
                  <a:srgbClr val="171717"/>
                </a:solidFill>
              </a:rPr>
              <a:t>Documentar evidencia desde el primer día</a:t>
            </a:r>
            <a:endParaRPr lang="en-US" sz="1500" dirty="0"/>
          </a:p>
          <a:p>
            <a:r>
              <a:rPr lang="en-US" sz="1500" dirty="0">
                <a:solidFill>
                  <a:srgbClr val="171717"/>
                </a:solidFill>
              </a:rPr>
              <a:t>Respetar cadena de mando</a:t>
            </a:r>
            <a:endParaRPr lang="en-US" sz="1500" dirty="0"/>
          </a:p>
          <a:p>
            <a:r>
              <a:rPr lang="en-US" sz="1500" dirty="0">
                <a:solidFill>
                  <a:srgbClr val="171717"/>
                </a:solidFill>
              </a:rPr>
              <a:t>Prepararse para cocinar, servir o ejecutar</a:t>
            </a:r>
            <a:endParaRPr lang="en-US" sz="1500" dirty="0"/>
          </a:p>
          <a:p>
            <a:r>
              <a:rPr lang="en-US" sz="1500" dirty="0">
                <a:solidFill>
                  <a:srgbClr val="171717"/>
                </a:solidFill>
              </a:rPr>
              <a:t>Cuidar detalles: UP + cena formal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0" cy="43434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72084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A96B"/>
                </a:solidFill>
              </a:rPr>
              <a:t>Decisiones próximas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12280" y="1874520"/>
            <a:ext cx="4389120" cy="2395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71717"/>
                </a:solidFill>
              </a:rPr>
              <a:t>Validar 30 invitados con titular</a:t>
            </a:r>
            <a:endParaRPr lang="en-US" sz="1500" dirty="0"/>
          </a:p>
          <a:p>
            <a:r>
              <a:rPr lang="en-US" sz="1500" dirty="0">
                <a:solidFill>
                  <a:srgbClr val="171717"/>
                </a:solidFill>
              </a:rPr>
              <a:t>Asignar organigrama con nombres</a:t>
            </a:r>
            <a:endParaRPr lang="en-US" sz="1500" dirty="0"/>
          </a:p>
          <a:p>
            <a:r>
              <a:rPr lang="en-US" sz="1500" dirty="0">
                <a:solidFill>
                  <a:srgbClr val="171717"/>
                </a:solidFill>
              </a:rPr>
              <a:t>Definir lugar externo</a:t>
            </a:r>
            <a:endParaRPr lang="en-US" sz="1500" dirty="0"/>
          </a:p>
          <a:p>
            <a:r>
              <a:rPr lang="en-US" sz="1500" dirty="0">
                <a:solidFill>
                  <a:srgbClr val="171717"/>
                </a:solidFill>
              </a:rPr>
              <a:t>Aprobar menú y pruebas</a:t>
            </a:r>
            <a:endParaRPr lang="en-US" sz="1500" dirty="0"/>
          </a:p>
          <a:p>
            <a:r>
              <a:rPr lang="en-US" sz="1500" dirty="0" err="1">
                <a:solidFill>
                  <a:srgbClr val="171717"/>
                </a:solidFill>
              </a:rPr>
              <a:t>Activar</a:t>
            </a:r>
            <a:r>
              <a:rPr lang="en-US" sz="1500" dirty="0">
                <a:solidFill>
                  <a:srgbClr val="171717"/>
                </a:solidFill>
              </a:rPr>
              <a:t> CRM(Costumer relationship Management) de invitados</a:t>
            </a:r>
            <a:endParaRPr lang="en-US" sz="1500" dirty="0"/>
          </a:p>
          <a:p>
            <a:r>
              <a:rPr lang="en-US" sz="1500" dirty="0">
                <a:solidFill>
                  <a:srgbClr val="171717"/>
                </a:solidFill>
              </a:rPr>
              <a:t>Abrir carpeta de evidencias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LEGADO 3.0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22F6B96-B05B-AB78-95E8-49B7478AFAA0}"/>
              </a:ext>
            </a:extLst>
          </p:cNvPr>
          <p:cNvSpPr txBox="1"/>
          <p:nvPr/>
        </p:nvSpPr>
        <p:spPr>
          <a:xfrm>
            <a:off x="1802118" y="220661"/>
            <a:ext cx="9192126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s-MX" sz="2400" b="1" dirty="0"/>
              <a:t>CONCLUSIÓN EJECUTIVA</a:t>
            </a:r>
          </a:p>
          <a:p>
            <a:pPr algn="ctr">
              <a:buNone/>
            </a:pPr>
            <a:r>
              <a:rPr lang="es-MX" sz="2400" b="1" i="1" dirty="0"/>
              <a:t>LEGADO 3.0 no plantea únicamente una Cena de Gala.</a:t>
            </a:r>
          </a:p>
          <a:p>
            <a:pPr algn="ctr">
              <a:buNone/>
            </a:pPr>
            <a:r>
              <a:rPr lang="es-MX" sz="2400" b="1" i="1" dirty="0"/>
              <a:t>Plantea la creación temporal de una organización.</a:t>
            </a:r>
          </a:p>
          <a:p>
            <a:pPr algn="ctr">
              <a:buNone/>
            </a:pPr>
            <a:endParaRPr lang="es-MX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Los alumnos serán el talento.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El presupuesto será el capital.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Los invitados serán los clientes.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La cocina será producción.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El servicio será experiencia del cliente.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Relaciones Públicas será comercialización.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Tecnología será innovación.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El organigrama será estructura.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Las auditorías serán control.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Los </a:t>
            </a:r>
            <a:r>
              <a:rPr lang="es-MX" sz="2400" b="1" dirty="0" err="1"/>
              <a:t>KPIs</a:t>
            </a:r>
            <a:r>
              <a:rPr lang="es-MX" sz="2400" b="1" dirty="0"/>
              <a:t> serán medición.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/>
              <a:t>La rúbrica será el tablero estratégico.</a:t>
            </a:r>
          </a:p>
          <a:p>
            <a:endParaRPr lang="es-MX" sz="2400" b="1" dirty="0"/>
          </a:p>
          <a:p>
            <a:pPr>
              <a:buNone/>
            </a:pPr>
            <a:r>
              <a:rPr lang="es-MX" sz="2400" b="1" dirty="0"/>
              <a:t>Y el resultado final será una demostración práctica de Administración Estratégica.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28787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A96B"/>
          </a:solidFill>
          <a:ln w="12700">
            <a:solidFill>
              <a:srgbClr val="C7A9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LEGADO 3.0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1709928"/>
            <a:ext cx="1111798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3E8D0"/>
                </a:solidFill>
              </a:rPr>
              <a:t>“Si solo quisieramos organizar una cena bonita, estudiariamos gastronomia. Pero somos futuros directores y empresarios: Nuestro reto es convertir una cena en una experiencia de estrategia, liderazgo, ejecucion y LEGADO.”</a:t>
            </a:r>
          </a:p>
        </p:txBody>
      </p:sp>
      <p:sp>
        <p:nvSpPr>
          <p:cNvPr id="6" name="Shape 4"/>
          <p:cNvSpPr/>
          <p:nvPr/>
        </p:nvSpPr>
        <p:spPr>
          <a:xfrm flipV="1">
            <a:off x="713232" y="3008376"/>
            <a:ext cx="10670861" cy="64008"/>
          </a:xfrm>
          <a:prstGeom prst="line">
            <a:avLst/>
          </a:prstGeom>
          <a:noFill/>
          <a:ln w="25400">
            <a:solidFill>
              <a:srgbClr val="C7A9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77240" y="3456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17 alumnos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913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 invitados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$10,500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4828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Una empresa temporal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5760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7A96B"/>
                </a:solidFill>
              </a:rPr>
              <a:t>“Administrar es hacer extraordinario lo limitado.”</a:t>
            </a:r>
            <a:endParaRPr lang="en-US" sz="2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570</TotalTime>
  <Words>1059</Words>
  <Application>Microsoft Office PowerPoint</Application>
  <PresentationFormat>Panorámica</PresentationFormat>
  <Paragraphs>292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ADLaM Display</vt:lpstr>
      <vt:lpstr>Aptos Display</vt:lpstr>
      <vt:lpstr>Arial</vt:lpstr>
      <vt:lpstr>Gill Sans MT</vt:lpstr>
      <vt:lpstr>Impact</vt:lpstr>
      <vt:lpstr>Distintivo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Panamericana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LEGADO 3.0 — Presentación ejecutiva</dc:title>
  <dc:subject>LEGADO 3.0 — Presentación ejecutiva</dc:subject>
  <dc:creator>OpenAI</dc:creator>
  <cp:lastModifiedBy>Eric Mejia</cp:lastModifiedBy>
  <cp:revision>2</cp:revision>
  <dcterms:created xsi:type="dcterms:W3CDTF">2026-08-18T04:54:17Z</dcterms:created>
  <dcterms:modified xsi:type="dcterms:W3CDTF">2026-08-18T15:01:47Z</dcterms:modified>
</cp:coreProperties>
</file>